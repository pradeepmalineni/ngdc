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IDXGateway is a new entry point into the same enterprise API platform ecosystem, not a competing system. The key message for leadership: developers get the same governance, the same gateway policies, and the same Portal-aligned workflows — but from inside their IDE. Producer teams benefit from guided, intelligent onboarding. Consumer workflows remain anchored to API Hub with IDXGateway serving as a future-ready extension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Three capabilities are now live: intelligent gateway selection with enterprise policy enforcement, guided producer onboarding directly from the IDE, and the MCP architecture that makes all of this reusable and extensible. Critically — this is built on top of DevX Agent by Orchestra, a tool the enterprise already recognizes and uses. We are extending existing investment, not introducing competing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The roadmap is structured around three priorities: expanding what works, reinforcing governance, and scaling adoption. Near-term focus is completing the producer journey and hardening policy enforcement — AI assists but does not make final decisions. Mid-term, we evaluate consumer-side enhancements only where value is proven. Long-term, the vision is a unified experience where Portal governs and the IDE executes — shifting platform engineering left and enabling agent-assisted developer workflows at enterprise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2D4F"/>
          </a:solidFill>
          <a:ln w="12700">
            <a:solidFill>
              <a:srgbClr val="1B2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0"/>
            <a:ext cx="64008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2468880" cy="36576"/>
          </a:xfrm>
          <a:prstGeom prst="rect">
            <a:avLst/>
          </a:prstGeom>
          <a:solidFill>
            <a:srgbClr val="F0D87A">
              <a:alpha val="60000"/>
            </a:srgbClr>
          </a:solidFill>
          <a:ln w="12700">
            <a:solidFill>
              <a:srgbClr val="F0D87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92024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" y="196596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993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Portal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" y="269748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274320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770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IDE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56032" y="347472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352044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547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Hub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56032" y="425196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429768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4325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IDXGateway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520440" y="2560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IDXGateway</a:t>
            </a:r>
            <a:endParaRPr lang="en-US" sz="3400" dirty="0"/>
          </a:p>
        </p:txBody>
      </p:sp>
      <p:sp>
        <p:nvSpPr>
          <p:cNvPr id="20" name="Text 14"/>
          <p:cNvSpPr/>
          <p:nvPr/>
        </p:nvSpPr>
        <p:spPr>
          <a:xfrm>
            <a:off x="3520440" y="8046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Additional Access Channel — Extending Enterprise API Capabilities into the Developer IDE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520440" y="1417320"/>
            <a:ext cx="5394960" cy="685800"/>
          </a:xfrm>
          <a:prstGeom prst="rect">
            <a:avLst/>
          </a:prstGeom>
          <a:solidFill>
            <a:srgbClr val="E0F4F4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520440" y="1417320"/>
            <a:ext cx="9144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703320" y="14630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5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IDXGateway is NOT a replacement for Portal — it is an additional access channel that brings the same enterprise capabilities into the developer's native IDE environment.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520440" y="2304288"/>
            <a:ext cx="2606040" cy="25603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20440" y="2304288"/>
            <a:ext cx="2606040" cy="411480"/>
          </a:xfrm>
          <a:prstGeom prst="rect">
            <a:avLst/>
          </a:prstGeom>
          <a:solidFill>
            <a:srgbClr val="1B2D4F"/>
          </a:solidFill>
          <a:ln w="12700">
            <a:solidFill>
              <a:srgbClr val="1B2D4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233172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9352" y="2359152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JOURNEY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3657600" y="2788920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gateway selection by flow type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proxy &amp; product creation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server &amp; security configuration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API onboarding from IDE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— not replaces — Portal workflows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91072" y="2304288"/>
            <a:ext cx="2606040" cy="25603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91072" y="2304288"/>
            <a:ext cx="2606040" cy="4114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33172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9984" y="2359152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JOURNEY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428232" y="2788920"/>
            <a:ext cx="2331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Hub remains primary discovery platform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disruption to existing consumer workflows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IDXGateway available as extension layer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Hub integrations leveraged if required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features only where value is clear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3520440" y="484632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· Extension · Enablement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D4F"/>
          </a:solidFill>
          <a:ln w="12700">
            <a:solidFill>
              <a:srgbClr val="1B2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371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Enabled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594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Delivered · DevX Integration · Platform Alignment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633472" cy="26974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2633472" cy="594360"/>
          </a:xfrm>
          <a:prstGeom prst="rect">
            <a:avLst/>
          </a:prstGeom>
          <a:solidFill>
            <a:srgbClr val="1B2D4F"/>
          </a:solidFill>
          <a:ln w="12700">
            <a:solidFill>
              <a:srgbClr val="1B2D4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23444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207008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Gateway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1828800"/>
            <a:ext cx="24048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Destination routing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· Egress · Internal flows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security-driven decisioning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rule enforcement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9544" y="1143000"/>
            <a:ext cx="2633472" cy="26974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9544" y="1143000"/>
            <a:ext cx="2633472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23444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03904" y="1207008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Onboarding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346704" y="1828800"/>
            <a:ext cx="24048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creation from IDE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target configuration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API registration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time-to-onboard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90488" y="1143000"/>
            <a:ext cx="2633472" cy="269748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90488" y="1143000"/>
            <a:ext cx="2633472" cy="5943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23444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4848" y="1207008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Architecture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327648" y="1828800"/>
            <a:ext cx="24048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platform capability layer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selection logic exposed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 product workflow APIs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· Standardized · Extensible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228600" y="3977640"/>
            <a:ext cx="4206240" cy="978408"/>
          </a:xfrm>
          <a:prstGeom prst="rect">
            <a:avLst/>
          </a:prstGeom>
          <a:solidFill>
            <a:srgbClr val="D6E4F7"/>
          </a:solidFill>
          <a:ln w="12700">
            <a:solidFill>
              <a:srgbClr val="B8D0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28600" y="3977640"/>
            <a:ext cx="91440" cy="978408"/>
          </a:xfrm>
          <a:prstGeom prst="rect">
            <a:avLst/>
          </a:prstGeom>
          <a:solidFill>
            <a:srgbClr val="1B2D4F"/>
          </a:solidFill>
          <a:ln w="12700">
            <a:solidFill>
              <a:srgbClr val="1B2D4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24528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4041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DevX Agent Integration (Orchestra)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05840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the enterprise-standard DevX Agent via MCP — no parallel tooling, no new agents to adopt.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709160" y="3977640"/>
            <a:ext cx="4206240" cy="978408"/>
          </a:xfrm>
          <a:prstGeom prst="rect">
            <a:avLst/>
          </a:prstGeom>
          <a:solidFill>
            <a:srgbClr val="FDF0EA"/>
          </a:solidFill>
          <a:ln w="12700">
            <a:solidFill>
              <a:srgbClr val="E8C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09160" y="3977640"/>
            <a:ext cx="91440" cy="978408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224528"/>
            <a:ext cx="438912" cy="438912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224528"/>
            <a:ext cx="438912" cy="4389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416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Existing Enterprise Investment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440680" y="43434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DevX + MCP infrastructure already in production — zero standalone systems introduced.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F1E36"/>
          </a:solidFill>
          <a:ln w="12700">
            <a:solidFill>
              <a:srgbClr val="0F1E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46120" y="0"/>
            <a:ext cx="64008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874520"/>
            <a:ext cx="2788920" cy="3017520"/>
          </a:xfrm>
          <a:prstGeom prst="rect">
            <a:avLst/>
          </a:prstGeom>
          <a:solidFill>
            <a:srgbClr val="16223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938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2286000"/>
            <a:ext cx="2560320" cy="27432"/>
          </a:xfrm>
          <a:prstGeom prst="rect">
            <a:avLst/>
          </a:prstGeom>
          <a:solidFill>
            <a:srgbClr val="C9A227">
              <a:alpha val="50000"/>
            </a:srgbClr>
          </a:solidFill>
          <a:ln w="12700">
            <a:solidFill>
              <a:srgbClr val="C9A227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377440"/>
            <a:ext cx="2606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handles governance &amp; lifecycle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handles execution &amp; interaction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developer experience end-to-end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platform engineering model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Agent-assisted developer workflows at scale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64592"/>
            <a:ext cx="5577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64592"/>
            <a:ext cx="73152" cy="1115568"/>
          </a:xfrm>
          <a:prstGeom prst="rect">
            <a:avLst/>
          </a:prstGeom>
          <a:solidFill>
            <a:srgbClr val="1B2D4F"/>
          </a:solidFill>
          <a:ln w="12700">
            <a:solidFill>
              <a:srgbClr val="1B2D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475488"/>
            <a:ext cx="493776" cy="493776"/>
          </a:xfrm>
          <a:prstGeom prst="ellipse">
            <a:avLst/>
          </a:prstGeom>
          <a:solidFill>
            <a:srgbClr val="1B2D4F"/>
          </a:solidFill>
          <a:ln w="12700">
            <a:solidFill>
              <a:srgbClr val="1B2D4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521208"/>
            <a:ext cx="402336" cy="40233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233672" y="256032"/>
            <a:ext cx="1005840" cy="237744"/>
          </a:xfrm>
          <a:prstGeom prst="rect">
            <a:avLst/>
          </a:prstGeom>
          <a:solidFill>
            <a:srgbClr val="D6E4F7"/>
          </a:solidFill>
          <a:ln w="9525">
            <a:solidFill>
              <a:srgbClr val="1B2D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42816" y="26517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33672" y="53035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Producer Journey Coverage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233672" y="8595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automation of proxy generation, product lifecycle, and deployment workflows. Deeper integration with Portal and IDP backend services.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29000" y="1371600"/>
            <a:ext cx="5577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29000" y="1371600"/>
            <a:ext cx="73152" cy="11155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11880" y="1682496"/>
            <a:ext cx="493776" cy="49377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28216"/>
            <a:ext cx="402336" cy="40233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233672" y="1463040"/>
            <a:ext cx="1005840" cy="237744"/>
          </a:xfrm>
          <a:prstGeom prst="rect">
            <a:avLst/>
          </a:prstGeom>
          <a:solidFill>
            <a:srgbClr val="E0F4F4"/>
          </a:solidFill>
          <a:ln w="9525">
            <a:solidFill>
              <a:srgbClr val="0D737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42816" y="147218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233672" y="173736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Policy-Driven Decisioning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233672" y="20665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gateway decisions strictly enforce enterprise rules. AI provides guidance and assists — final authority remains with platform policies and governance.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429000" y="2578608"/>
            <a:ext cx="5577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429000" y="2578608"/>
            <a:ext cx="73152" cy="11155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611880" y="2889504"/>
            <a:ext cx="493776" cy="493776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935224"/>
            <a:ext cx="402336" cy="402336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233672" y="2670048"/>
            <a:ext cx="1005840" cy="237744"/>
          </a:xfrm>
          <a:prstGeom prst="rect">
            <a:avLst/>
          </a:prstGeom>
          <a:solidFill>
            <a:srgbClr val="FFF9E6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242816" y="267919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4233672" y="2944368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Journey Evolution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4233672" y="32735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leveraging API Hub as the primary channel. Evaluate selective IDE discovery features or API Hub integrations only where developer value is demonstrated.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3429000" y="3785616"/>
            <a:ext cx="55778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3429000" y="3785616"/>
            <a:ext cx="73152" cy="1115568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3611880" y="4096512"/>
            <a:ext cx="493776" cy="493776"/>
          </a:xfrm>
          <a:prstGeom prst="ellipse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142232"/>
            <a:ext cx="402336" cy="402336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4233672" y="3877056"/>
            <a:ext cx="1005840" cy="237744"/>
          </a:xfrm>
          <a:prstGeom prst="rect">
            <a:avLst/>
          </a:prstGeom>
          <a:solidFill>
            <a:srgbClr val="FDF0EA"/>
          </a:solidFill>
          <a:ln w="9525">
            <a:solidFill>
              <a:srgbClr val="D4622A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242816" y="388620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MID–LONG TERM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4233672" y="4151376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Adoption via DevX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4233672" y="4480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consistent developer experience across all teams through DevX Agent and MCP ecosystem — aligning Portal governance with IDE execution at enterprise scale.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IDXGateway – Executive Briefing</dc:title>
  <dc:subject>PptxGenJS Presentation</dc:subject>
  <dc:creator>Wells Fargo API Platform</dc:creator>
  <cp:lastModifiedBy>Wells Fargo API Platform</cp:lastModifiedBy>
  <cp:revision>1</cp:revision>
  <dcterms:created xsi:type="dcterms:W3CDTF">2026-04-20T11:18:24Z</dcterms:created>
  <dcterms:modified xsi:type="dcterms:W3CDTF">2026-04-20T11:18:24Z</dcterms:modified>
</cp:coreProperties>
</file>